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One-line: We are not another brokerage — we are a data-led resale engine that uses DLD pricing intelligence to win exclusive mandates and close with higher trust, and we license the same engine as SaaS.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war/market shock pushed capital from 2-year off-plan bets into immediate-liquidity resale. That is exactly the segment PRISM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exclusive mandate is the highest-value, lowest-competition asset in brokerage. Evidence is how you win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every investor conversation with that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differentiator vs a slideware startup: the product already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Incumbents generate data OR leads OR run a brokerage. None close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Brokerage-first execution, blended monetization, dual exit. Don't make SaaS load-bearing in Year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conversion % are assumptions. The model survives worse numbers because the fixed base is one salary.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projections; multiples illustrative, not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it's PropTech, not 'another brokerage' — the asset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stage is gated by proof from the previous one — capital follows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traction now; scale only on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multi-dimensional read from an operator's seat.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 criteria: CAC&gt;AED25K/mandate, conversion&lt;20% with founder closing, or DLD access foreclosed.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Founder-market fit is the story: a domain expert who shipped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line: every competitor generates data OR leads OR runs a brokerage. Elevate Homes closes the full loop — and licenses the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Prototype is live and clickable — happy to demo /sell, /deal-check, /crm, /report, /deck.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6000" b="1" i="0">
                <a:solidFill>
                  <a:srgbClr val="E8D5A3"/>
                </a:solidFill>
                <a:latin typeface="Cormorant Garamond"/>
              </a:rPr>
              <a:t>ELEVATE HOMES</a:t>
            </a:r>
          </a:p>
          <a:p>
            <a:pPr algn="ctr">
              <a:lnSpc>
                <a:spcPct val="105000"/>
              </a:lnSpc>
              <a:spcAft>
                <a:spcPts val="1400"/>
              </a:spcAft>
            </a:pPr>
            <a:r>
              <a:rPr sz="1500" b="1" i="0">
                <a:solidFill>
                  <a:srgbClr val="7A6F5E"/>
                </a:solidFill>
                <a:latin typeface="Manrope"/>
              </a:rPr>
              <a:t>DUBAI RESALE INTELLIGENCE  ·  BROKERAGE + PRISM SAAS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 i="0">
                <a:solidFill>
                  <a:srgbClr val="C2B89A"/>
                </a:solidFill>
                <a:latin typeface="Manrope"/>
              </a:rPr>
              <a:t>End-to-End Investor &amp; Feasibility Briefing · June 2026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7A6F5E"/>
                </a:solidFill>
                <a:latin typeface="Manrope"/>
              </a:rPr>
              <a:t>Sambhav Gupta — 3.5 yrs Dubai real estate · Senior Investment Analyst, Sobha Realty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THE CONTEXT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The Market Flipped to Resale.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We Were Built for This Moment.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-27%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OFF-PLAN SECONDARY Q1 2026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flip strategies broke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37744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+48%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READY/RESALE VALUES YOY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buyers want certainty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9456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37744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53B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SECONDARY VOLUME Q1 2026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~14,399 deals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C2B89A"/>
                </a:solidFill>
                <a:latin typeface="Manrope"/>
              </a:rPr>
              <a:t>~65,000 units delivering through 2026 → a wave of owners who must price to sell. Sellers need proof, not a sales pitch.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7A6F5E"/>
                </a:solidFill>
                <a:latin typeface="Manrope"/>
              </a:rPr>
              <a:t>Sources: Dubai Land Department Q1 2026; figures directional, validated live by PRISM.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THE PROBLEM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Sellers Guess. Buyers Distrust.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Agents Have No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5394960" cy="18288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50592"/>
            <a:ext cx="4937760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For Sellers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No transparent DLD-based pricing tool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Opinion-based agent valuations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Need a defensible exit price 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2286000"/>
            <a:ext cx="5394960" cy="18288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450592"/>
            <a:ext cx="4937760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For Buyers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Can't verify fair vs overpriced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Portals show asking, not sold prices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Need data before committing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5394960" cy="18288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16552"/>
            <a:ext cx="4937760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For Brokerages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Portal leads split across 5,700+ agents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No tool to win mandates with evidence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Spend buys raw leads, not mandates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251960"/>
            <a:ext cx="5394960" cy="18288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416552"/>
            <a:ext cx="4937760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The Gap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DLD data is public but not digestible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Nobody closes data→trust→mandate→fee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The window is now: motivated sellers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THE SOLUTION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Elevate Homes + the PRISM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C2B89A"/>
                </a:solidFill>
                <a:latin typeface="Manrope"/>
              </a:rPr>
              <a:t>A DLD-powered pricing-intelligence layer that generates trust, captures leads, converts them into exclusive resale mandates — and licenses the same engine as SaaS.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3566160" cy="21945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24912"/>
            <a:ext cx="3108960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PRISM Engine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Hybrid valuation, 66,413 DLD rows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Log-size elasticity 0.2733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Recency + size-proximity weighting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Confidence diagnostics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560320"/>
            <a:ext cx="3566160" cy="21945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724912"/>
            <a:ext cx="3108960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Pricing Proof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Shows the actual comparable sales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Date, project, rooms, AED/sqft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Not a black-box number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Evidence sellers take to 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520440" cy="21945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724912"/>
            <a:ext cx="3063240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Mandate Engine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Valuation -&gt; lead -&gt; call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-&gt; exclusive mandate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-&gt; listed -&gt; closed -&gt; commission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Tracked in the built-in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83480"/>
            <a:ext cx="10927080" cy="1097280"/>
          </a:xfrm>
          <a:prstGeom prst="roundRect">
            <a:avLst/>
          </a:prstGeom>
          <a:solidFill>
            <a:srgbClr val="1A160C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1">
                <a:solidFill>
                  <a:srgbClr val="E8D5A3"/>
                </a:solidFill>
                <a:latin typeface="Cormorant Garamond"/>
              </a:rPr>
              <a:t>"We are not another brokerage. We are a data-led resale engine that uses pricing intelligence to acquire mandates and close transactions with higher trust."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THE PRODUCT · WORKING PROTOTYPE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Three Flows. One Engine. Live Today.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566160" cy="26517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59152"/>
            <a:ext cx="3108960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Seller · /sell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1. Area, project, beds, size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2. Fair-value band + liquidity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3. Comparable DLD rows shown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4. Lead captured -&gt; CRM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5. Book pricing strategy call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6. -&gt; Exclusive mandate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94560"/>
            <a:ext cx="3566160" cy="26517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59152"/>
            <a:ext cx="3108960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Buyer · /deal-check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1. Listing + asking price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2. Verdict: fair / over / under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3. Downloadable Pricing Proof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4. Lead captured -&gt; CRM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5. Let us negotiate this unit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6. -&gt; Buyer representation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94560"/>
            <a:ext cx="3520440" cy="26517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359152"/>
            <a:ext cx="3063240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Brokers · /brokers + /crm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1. Broker early-access signup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2. Agency + RERA BRN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3. Feeds SaaS pipeline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4. CRM: New -&gt; Mandate -&gt; Closed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5. Notes, status, history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6. -&gt; Network + subscriptions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27080" cy="1005840"/>
          </a:xfrm>
          <a:prstGeom prst="roundRect">
            <a:avLst/>
          </a:prstGeom>
          <a:solidFill>
            <a:srgbClr val="101A14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38928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2B89A"/>
                </a:solidFill>
                <a:latin typeface="Manrope"/>
              </a:rPr>
              <a:t>LIVE NOW: 66,413 clean DLD records · PRISM Hybrid v1 · /healthz ok · /api/engine -&gt; "prism-hybrid-v1" · seller + buyer + broker funnels + branded reports + agent CRM all 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COMPETITIVE MOAT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What No One Else Closes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2194560"/>
          <a:ext cx="109270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566160"/>
                <a:gridCol w="4160520"/>
                <a:gridCol w="10972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Platform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What they do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What's missing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Loop?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DXB Interact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Free raw DLD data portal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 journey, no lead, no mandate, no revenue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Property Monitor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B2B AVM for institutions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Enterprise-only; no consumer; no brokerage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Bayut TruEstimate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300K+ AI valuations -&gt; 5,700 agents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Distributes trust; no exclusivity; no comps shown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Dubai REST (DLD)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Official govt AVM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Generic; no comparables; no actionability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Elevate Homes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Data-&gt;Proof-&gt;Lead-&gt;Mandate-&gt;Closed-&gt;Fee + SaaS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Nothing - we close the full loop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YES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0" i="0">
                <a:solidFill>
                  <a:srgbClr val="7A6F5E"/>
                </a:solidFill>
                <a:latin typeface="Manrope"/>
              </a:rPr>
              <a:t>The moat compounds: every closed mandate adds a private comp the incumbents never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BUSINESS MODEL · BLENDED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Brokerage Funds It. SaaS Scales It.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214884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188720"/>
                <a:gridCol w="118872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9A84C"/>
                          </a:solidFill>
                          <a:latin typeface="Manrope"/>
                        </a:rPr>
                        <a:t>Revenue stream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9A84C"/>
                          </a:solidFill>
                          <a:latin typeface="Manrope"/>
                        </a:rPr>
                        <a:t>Y1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9A84C"/>
                          </a:solidFill>
                          <a:latin typeface="Manrope"/>
                        </a:rPr>
                        <a:t>Y2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9A84C"/>
                          </a:solidFill>
                          <a:latin typeface="Manrope"/>
                        </a:rPr>
                        <a:t>Y3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1 · Resale mandates (GCI)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1.91M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5.73M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12.22M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2 · CPL agent pipeline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0.95M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2.42M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4.24M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3 · Founder personal deals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0.64M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0.81M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0.81M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4 · PRISM SaaS subscriptions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-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0.74M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1.85M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5 · Per-report credits / area packs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0.06M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0.20M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0.40M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6 · Enterprise data / API licensing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-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0.18M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0.46M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F0ECE4"/>
                          </a:solidFill>
                          <a:latin typeface="Manrope"/>
                        </a:rPr>
                        <a:t>COMBINED (AED)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3.56M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10.07M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C2B89A"/>
                          </a:solidFill>
                          <a:latin typeface="Manrope"/>
                        </a:rPr>
                        <a:t>19.98M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595360" y="2148840"/>
            <a:ext cx="2971800" cy="36576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23960" y="2313432"/>
            <a:ext cx="2514600" cy="332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Two arms, one engine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Brokerage = transaction GCI (~98% gross), funds Year 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SaaS = recurring + usage; builds the moat &amp; the multiple.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/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SaaS tiers (AED/mo):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Free (own agents)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199 Starter · 499 Pro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999 Team · 2,500+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050" b="0" i="0">
                <a:solidFill>
                  <a:srgbClr val="7A6F5E"/>
                </a:solidFill>
                <a:latin typeface="Manrope"/>
              </a:rPr>
              <a:t>Forward projections (blended financial model). SaaS share grows ~2% -&gt; 11% -&gt; 14% of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UNIT ECONOMICS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The Numbers Work From Deal 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18.1x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LTV : CAC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target &gt;10x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1859" y="210312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1859" y="228600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120K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AVG GCI / DEAL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2% on ~AED 6M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0312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28600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Month 7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BREAKEVEN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brokerage arm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5419" y="210312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5419" y="228600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20K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FOUNDER SALARY / MO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only fixed salary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E8D5A3"/>
                </a:solidFill>
                <a:latin typeface="Manrope"/>
              </a:rPr>
              <a:t>Funnel (working assumptions to validate in Sprint 1):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C2B89A"/>
                </a:solidFill>
                <a:latin typeface="Manrope"/>
              </a:rPr>
              <a:t>▸  App submission → qualified lead:  37%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C2B89A"/>
                </a:solidFill>
                <a:latin typeface="Manrope"/>
              </a:rPr>
              <a:t>▸  Qualified lead → consultation:  28%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 i="0">
                <a:solidFill>
                  <a:srgbClr val="C2B89A"/>
                </a:solidFill>
                <a:latin typeface="Manrope"/>
              </a:rPr>
              <a:t>▸  Consultation → exclusive mandate:  45%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7A6F5E"/>
                </a:solidFill>
                <a:latin typeface="Manrope"/>
              </a:rPr>
              <a:t>Break-even ≈ 1.5 mandates/month — reachable with the founder closing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FINANCIAL MODEL · 3 YEARS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Capital-Light. Cash-Positive Fast.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3.56M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YEAR 1 REVENUE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EBITDA 1.75M · 49%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28600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10.07M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YEAR 2 REVENUE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EBITDA 6.53M · 65%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03120"/>
            <a:ext cx="3474720" cy="15544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86000"/>
            <a:ext cx="3474720" cy="11887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19.98M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YEAR 3 REVENUE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EBITDA 15.12M · 76%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3566160" cy="20116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87952"/>
            <a:ext cx="3108960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Two arms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Brokerage = GCI (~98% gross).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SaaS COGS only AED 120K -&gt; 264K.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023360"/>
            <a:ext cx="3566160" cy="20116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187952"/>
            <a:ext cx="3108960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Breakeven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Brokerage ~M7 (GCI carries Y1).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SaaS self-sustaining ~M18.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Positive EBITDA from Year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520440" cy="201168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187952"/>
            <a:ext cx="3063240" cy="1682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Indicative Y3 value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SaaS ~1.85M ARR x ~10x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+ brokerage EBITDA x ~4x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-&gt; ~AED 40-60M · dual exit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SCALABILITY · THE FLYWHEEL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A Brokerage That Gets Smarter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With Every 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 i="0">
                <a:solidFill>
                  <a:srgbClr val="E8D5A3"/>
                </a:solidFill>
                <a:latin typeface="Manrope"/>
              </a:rPr>
              <a:t>More valuations → more mandates &amp; closings → private comps PRISM owns → smarter engine → sharper pricing → more trust → more valuations.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291840"/>
            <a:ext cx="356616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56432"/>
            <a:ext cx="310896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Zero marginal data cost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DLD refreshes nightly.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Zero-dependency Node engine.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Next area / next 100K rows = compute, not headcount.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291840"/>
            <a:ext cx="356616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456432"/>
            <a:ext cx="310896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Product-led, not payroll-led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Mandates from the funnel, not 50 cold-callers.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Hire to proven demand: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1 agent / 8-10 active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91840"/>
            <a:ext cx="352044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456432"/>
            <a:ext cx="306324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Same engine, two buyers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In-house agents use PRISM free.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External agents/devs pay.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Every subscriber surfaces a deal we can capture.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SCALABILITY · EXPANSION PATH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Win Density First, Then Widen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40280"/>
            <a:ext cx="10927080" cy="9144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5000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E8D5A3"/>
                </a:solidFill>
                <a:latin typeface="Manrope"/>
              </a:rPr>
              <a:t>Stage 1 — Depth (Now -&gt; M6)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Dominate 3-5 high-liquidity communities (Business Bay, Marina, JVC, Downtown, Dubai Hills). Repeatable mandates + a private comp set no portal 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64408"/>
            <a:ext cx="10927080" cy="9144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74136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E8D5A3"/>
                </a:solidFill>
                <a:latin typeface="Manrope"/>
              </a:rPr>
              <a:t>Stage 2 — Breadth (M6 -&gt; M18)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Roll the same playbook across all Dubai resale communities. Activate the broker network + launch PRISM SaaS to external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88536"/>
            <a:ext cx="10927080" cy="9144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98264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E8D5A3"/>
                </a:solidFill>
                <a:latin typeface="Manrope"/>
              </a:rPr>
              <a:t>Stage 3 — Platform (M18 -&gt; Y3)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Enterprise data/API + white-label PRISM for brokerages &amp; banks. Layer buyer-side + off-plan referral channels on the same lead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12664"/>
            <a:ext cx="10927080" cy="9144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223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 i="0">
                <a:solidFill>
                  <a:srgbClr val="E8D5A3"/>
                </a:solidFill>
                <a:latin typeface="Manrope"/>
              </a:rPr>
              <a:t>Stage 4 — Geographic (Y3+)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Same architecture, new registries: Abu Dhabi, then GCC markets with open transaction data. The engine is portable; only the data source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ROADMAP · FIRST 90 DAYS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Traction Now. Scale on Proof.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10927080" cy="11430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515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E8D5A3"/>
                </a:solidFill>
                <a:latin typeface="Manrope"/>
              </a:rPr>
              <a:t>NOW · Days 1-30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Resale Proof MVP (prototype built): seller + buyer funnels, lead gate, Pricing Proof PDF, agent CRM, 10 area pages, 3 seller campaigns.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A84C"/>
                </a:solidFill>
                <a:latin typeface="Manrope"/>
              </a:rPr>
              <a:t>KPIs: 300 visitors · 50 submissions · 5 seller calls · 2 mandates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10927080" cy="11430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75887"/>
            <a:ext cx="10515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E8D5A3"/>
                </a:solidFill>
                <a:latin typeface="Manrope"/>
              </a:rPr>
              <a:t>NEXT · Days 31-60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Mandate Acquisition: full 7.71 GB DLD canonical cache, report share links, agent dashboard v1, retargeting, activate 2 resale agents on proof.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A84C"/>
                </a:solidFill>
                <a:latin typeface="Manrope"/>
              </a:rPr>
              <a:t>KPIs: 100+ submissions/mo · 10+ calls · 5+ mandates · 1-2 closings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46320"/>
            <a:ext cx="10927080" cy="114300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56048"/>
            <a:ext cx="10515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E8D5A3"/>
                </a:solidFill>
                <a:latin typeface="Manrope"/>
              </a:rPr>
              <a:t>SCALE · Days 61-90</a:t>
            </a:r>
          </a:p>
          <a:p>
            <a:pPr algn="l">
              <a:lnSpc>
                <a:spcPct val="104000"/>
              </a:lnSpc>
              <a:spcAft>
                <a:spcPts val="300"/>
              </a:spcAft>
            </a:pPr>
            <a:r>
              <a:rPr sz="1100" b="0" i="0">
                <a:solidFill>
                  <a:srgbClr val="C2B89A"/>
                </a:solidFill>
                <a:latin typeface="Manrope"/>
              </a:rPr>
              <a:t>Systemize &amp; open SaaS beta: area heatmap, seller dashboard, gated hiring, PRISM SaaS beta to first external brokers.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9A84C"/>
                </a:solidFill>
                <a:latin typeface="Manrope"/>
              </a:rPr>
              <a:t>KPIs: 300+ submissions/mo · 15+ mandates · 3-5 closings · first SaaS signups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FEASIBILITY CHECK · 1 OF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Does This Actually Work?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4884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7" y="229514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4D399"/>
                </a:solidFill>
                <a:latin typeface="Manrope"/>
              </a:rPr>
              <a:t>Market   [HIGH]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AED 53B secondary/qtr; motivated sellers; structural shift to resale. Demand proven.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4884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44568" y="229514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34D399"/>
                </a:solidFill>
                <a:latin typeface="Manrope"/>
              </a:rPr>
              <a:t>Technical   [HIGH]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Prototype live: engine, funnels, CRM, reports. Zero-dep, nightly refresh.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4884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229514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C9A84C"/>
                </a:solidFill>
                <a:latin typeface="Manrope"/>
              </a:rPr>
              <a:t>Financial   [MED-HIGH]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Capital-light; GCI funds Y1; breakeven ~M7. Sensitive to CAC + conversion.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16966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C9A84C"/>
                </a:solidFill>
                <a:latin typeface="Manrope"/>
              </a:rPr>
              <a:t>Operational   [MEDIUM]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Founder-led, commission-only agents, gated hiring. 5-min response SLA.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02336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416966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C9A84C"/>
                </a:solidFill>
                <a:latin typeface="Manrope"/>
              </a:rPr>
              <a:t>Regulatory   [MEDIUM]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RERA licence + BRN; DLD redistribution terms. Known and navigable.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023360"/>
            <a:ext cx="3566160" cy="16916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4169664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C9A84C"/>
                </a:solidFill>
                <a:latin typeface="Manrope"/>
              </a:rPr>
              <a:t>Competitive   [MED-HIGH]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C2B89A"/>
                </a:solidFill>
                <a:latin typeface="Manrope"/>
              </a:rPr>
              <a:t>No incumbent closes the loop; moat = private mandate comps. Watch the portals.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FEASIBILITY CHECK · 2 OF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Top Risks — and How We Kill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2148840"/>
          <a:ext cx="109270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2694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Risk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C9A84C"/>
                          </a:solidFill>
                          <a:latin typeface="Manrope"/>
                        </a:rPr>
                        <a:t>Mitigation</a:t>
                      </a:r>
                    </a:p>
                  </a:txBody>
                  <a:tcPr marL="109728" marR="73152" marT="27432" marB="27432" anchor="ctr">
                    <a:solidFill>
                      <a:srgbClr val="2A241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Full DLD access (Pulse pending)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66K cached works now; canonical builder ready; nightly refresh live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Mandate conversion below model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Founder closes first; don't hire until proven; 60-90 day exclusives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CAC inflation on portals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Own-channel SEO/content/WhatsApp; NRI targeting; report = marketing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Brokerage shakeout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Lean by design: one salary, commission-only. Built to be the survivor</a:t>
                      </a:r>
                    </a:p>
                  </a:txBody>
                  <a:tcPr marL="109728" marR="73152" marT="27432" marB="27432" anchor="ctr">
                    <a:solidFill>
                      <a:srgbClr val="0F141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0ECE4"/>
                          </a:solidFill>
                          <a:latin typeface="Manrope"/>
                        </a:rPr>
                        <a:t>Incumbent copies comparables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C2B89A"/>
                          </a:solidFill>
                          <a:latin typeface="Manrope"/>
                        </a:rPr>
                        <a:t>Speed + the mandate-comp flywheel + consumer-&gt;brokerage loop</a:t>
                      </a:r>
                    </a:p>
                  </a:txBody>
                  <a:tcPr marL="109728" marR="73152" marT="27432" marB="27432" anchor="ctr">
                    <a:solidFill>
                      <a:srgbClr val="121820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" y="5440680"/>
            <a:ext cx="10927080" cy="960120"/>
          </a:xfrm>
          <a:prstGeom prst="roundRect">
            <a:avLst/>
          </a:prstGeom>
          <a:solidFill>
            <a:srgbClr val="101A14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532120"/>
            <a:ext cx="10424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E8D5A3"/>
                </a:solidFill>
                <a:latin typeface="Manrope"/>
              </a:rPr>
              <a:t>VERDICT: GO (conditional). Capital-light, product already built, demand validated, honest moat. Conditions: prove mandate conversion in 1-2 areas before scaling spend, and secure the full DLD path. Risk is in execution, not market or technology.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TEAM &amp; CREDIBILITY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Domain First. Code Followed.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356616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50592"/>
            <a:ext cx="310896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The operator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Sambhav Gupta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3.5 yrs Dubai real estate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Senior Investment Analyst, Sobha Realty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Lives the seller/buyer/agent problem daily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286000"/>
            <a:ext cx="356616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450592"/>
            <a:ext cx="310896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The research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MBA hedonic-pricing dissertation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DLD branded-residence premiums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Size elasticity ~0.27 -&gt; engine's 0.2733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PRISM re-tests it on live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520440" cy="23774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450592"/>
            <a:ext cx="3063240" cy="2048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The build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Working prototype shipped solo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AI-assisted development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Bottleneck is domain depth, not a dev team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We have the 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0927080" cy="1005840"/>
          </a:xfrm>
          <a:prstGeom prst="roundRect">
            <a:avLst/>
          </a:prstGeom>
          <a:solidFill>
            <a:srgbClr val="1A160C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C2B89A"/>
                </a:solidFill>
                <a:latin typeface="Manrope"/>
              </a:rPr>
              <a:t>Hiring philosophy: earn the right to hire. One founder salary today; commission-only agents added only as proven mandate flow demands — gated, not speculative.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9A84C"/>
                </a:solidFill>
                <a:latin typeface="Manrope"/>
              </a:rPr>
              <a:t>THE ASK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E8D5A3"/>
                </a:solidFill>
                <a:latin typeface="Cormorant Garamond"/>
              </a:rPr>
              <a:t>What We Need to Win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57400"/>
            <a:ext cx="3474720" cy="141732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40280"/>
            <a:ext cx="3474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630K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SEED · 4 TRANCHES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milestone-gated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57400"/>
            <a:ext cx="3474720" cy="141732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2240280"/>
            <a:ext cx="3474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20%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EQUITY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057400"/>
            <a:ext cx="3474720" cy="141732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240280"/>
            <a:ext cx="3474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Month 7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BREAKEVEN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~AED 5M cash Y3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94960" cy="21945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13631"/>
            <a:ext cx="4937760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From the Incubator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PropTech + brokerage mentorship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Pilot users + test mandates via network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RERA licensing + setup guidance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Investor-readiness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49039"/>
            <a:ext cx="5394960" cy="219456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913631"/>
            <a:ext cx="4937760" cy="1865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E8D5A3"/>
                </a:solidFill>
                <a:latin typeface="Manrope"/>
              </a:rPr>
              <a:t>Use of Funds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RERA licence + office setup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Mandate-acquisition marketing (gated)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Full DLD pipeline + SaaS build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C2B89A"/>
                </a:solidFill>
                <a:latin typeface="Manrope"/>
              </a:rPr>
              <a:t>First agents — only on proven 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6015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5200" b="1" i="0">
                <a:solidFill>
                  <a:srgbClr val="E8D5A3"/>
                </a:solidFill>
                <a:latin typeface="Cormorant Garamond"/>
              </a:rPr>
              <a:t>ELEVATE HOMES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7A6F5E"/>
                </a:solidFill>
                <a:latin typeface="Manrope"/>
              </a:rPr>
              <a:t>RESALE INTELLIGENCE · BROKERAGE + PRISM SAAS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65760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66,413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DLD RECORDS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1859" y="365760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1859" y="384048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AED 20M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Y3 REVENUE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modeled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384048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~AED 40-60M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Y3 VALUATION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indicative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5419" y="3657600"/>
            <a:ext cx="2537460" cy="1463040"/>
          </a:xfrm>
          <a:prstGeom prst="roundRect">
            <a:avLst/>
          </a:prstGeom>
          <a:solidFill>
            <a:srgbClr val="161F2B"/>
          </a:solidFill>
          <a:ln w="952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5419" y="3840480"/>
            <a:ext cx="25374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3000" b="1" i="0">
                <a:solidFill>
                  <a:srgbClr val="C9A84C"/>
                </a:solidFill>
                <a:latin typeface="Cormorant Garamond"/>
              </a:rPr>
              <a:t>GO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7A6F5E"/>
                </a:solidFill>
                <a:latin typeface="Manrope"/>
              </a:rPr>
              <a:t>FEASIBILITY VERDICT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C2B89A"/>
                </a:solidFill>
                <a:latin typeface="Manrope"/>
              </a:rPr>
              <a:t>conditional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7A6F5E"/>
                </a:solidFill>
                <a:latin typeface="Manrope"/>
              </a:rPr>
              <a:t>Sambhav Gupta · Elevate Homes · June 2026 · prototype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